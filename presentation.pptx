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7" r:id="rId8"/>
    <p:sldId id="266" r:id="rId9"/>
    <p:sldId id="268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238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747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683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220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060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665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763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092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538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288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1044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666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893" r:id="rId6"/>
    <p:sldLayoutId id="2147483889" r:id="rId7"/>
    <p:sldLayoutId id="2147483890" r:id="rId8"/>
    <p:sldLayoutId id="2147483891" r:id="rId9"/>
    <p:sldLayoutId id="2147483892" r:id="rId10"/>
    <p:sldLayoutId id="2147483894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Witte kubussen en bal">
            <a:extLst>
              <a:ext uri="{FF2B5EF4-FFF2-40B4-BE49-F238E27FC236}">
                <a16:creationId xmlns:a16="http://schemas.microsoft.com/office/drawing/2014/main" id="{BE87A2A3-F109-E2E8-7323-279B03837F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ED4709D-5193-A462-57A6-8F08DCEDD4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>
                <a:solidFill>
                  <a:srgbClr val="FFFFFF"/>
                </a:solidFill>
              </a:rPr>
              <a:t>Understanding the Java Stream&lt;T&gt; Interface and Its Usage in the Java Collection Framework</a:t>
            </a:r>
            <a:endParaRPr lang="nl-NL" sz="4200">
              <a:solidFill>
                <a:srgbClr val="FFFFFF"/>
              </a:solidFill>
            </a:endParaRP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FCE727F-708B-C067-A4CC-A10D77FA93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4439920" cy="1104721"/>
          </a:xfrm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FFFFFF"/>
                </a:solidFill>
              </a:rPr>
              <a:t>Performance, Memory Usage, and Readability Compared to Loops</a:t>
            </a:r>
            <a:br>
              <a:rPr lang="en-US" sz="1100" dirty="0">
                <a:solidFill>
                  <a:srgbClr val="FFFFFF"/>
                </a:solidFill>
              </a:rPr>
            </a:br>
            <a:br>
              <a:rPr lang="en-US" sz="1100" dirty="0">
                <a:solidFill>
                  <a:srgbClr val="FFFFFF"/>
                </a:solidFill>
              </a:rPr>
            </a:br>
            <a:r>
              <a:rPr lang="en-US" sz="1100" dirty="0">
                <a:solidFill>
                  <a:srgbClr val="FFFFFF"/>
                </a:solidFill>
              </a:rPr>
              <a:t>Name: Stefan Boudri</a:t>
            </a:r>
            <a:br>
              <a:rPr lang="en-US" sz="1100" dirty="0">
                <a:solidFill>
                  <a:srgbClr val="FFFFFF"/>
                </a:solidFill>
              </a:rPr>
            </a:br>
            <a:r>
              <a:rPr lang="en-US" sz="1100" dirty="0">
                <a:solidFill>
                  <a:srgbClr val="FFFFFF"/>
                </a:solidFill>
              </a:rPr>
              <a:t>Date: 16-11-2025</a:t>
            </a:r>
            <a:endParaRPr lang="nl-NL" sz="1100" dirty="0">
              <a:solidFill>
                <a:srgbClr val="FFFFFF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6332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59A3439-29DF-D32C-FFE3-A6856B5A8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nl-NL" dirty="0" err="1"/>
              <a:t>Introduction</a:t>
            </a:r>
            <a:endParaRPr lang="nl-NL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3C53D16-A9B7-D321-0E95-043B15699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nl-NL" dirty="0"/>
          </a:p>
        </p:txBody>
      </p:sp>
      <p:pic>
        <p:nvPicPr>
          <p:cNvPr id="5" name="Picture 4" descr="101010 gegevens lijnen naar oneindig">
            <a:extLst>
              <a:ext uri="{FF2B5EF4-FFF2-40B4-BE49-F238E27FC236}">
                <a16:creationId xmlns:a16="http://schemas.microsoft.com/office/drawing/2014/main" id="{26FC6C3E-CAD1-7FAB-E8AE-F38370D5BB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21" r="27121"/>
          <a:stretch/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815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D5958A-BB43-5590-E04F-2F7C7FF07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845599-3495-8386-B82D-6CEB60378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990D8EF-9564-8D9F-9752-2AFE61ACF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nl-NL" dirty="0" err="1"/>
              <a:t>Problem</a:t>
            </a:r>
            <a:r>
              <a:rPr lang="nl-NL" dirty="0"/>
              <a:t> Statement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DAD88E-1612-E118-341A-97A07F1AD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C1213B4-8775-99A9-B776-69490E92E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r>
              <a:rPr lang="nl-NL" dirty="0"/>
              <a:t>Loops are </a:t>
            </a:r>
            <a:r>
              <a:rPr lang="nl-NL" dirty="0" err="1"/>
              <a:t>verbose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repetitive</a:t>
            </a:r>
            <a:r>
              <a:rPr lang="nl-NL" dirty="0"/>
              <a:t> </a:t>
            </a:r>
          </a:p>
          <a:p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naturally</a:t>
            </a:r>
            <a:r>
              <a:rPr lang="nl-NL" dirty="0"/>
              <a:t> parallel</a:t>
            </a:r>
          </a:p>
          <a:p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hard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read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gets</a:t>
            </a:r>
            <a:r>
              <a:rPr lang="nl-NL" dirty="0"/>
              <a:t> complex</a:t>
            </a:r>
          </a:p>
          <a:p>
            <a:r>
              <a:rPr lang="en-US" dirty="0"/>
              <a:t>Need for a more expressive and scalable approach</a:t>
            </a:r>
            <a:endParaRPr lang="nl-NL" dirty="0"/>
          </a:p>
        </p:txBody>
      </p:sp>
      <p:pic>
        <p:nvPicPr>
          <p:cNvPr id="4" name="Picture 4" descr="101010 gegevens lijnen naar oneindig">
            <a:extLst>
              <a:ext uri="{FF2B5EF4-FFF2-40B4-BE49-F238E27FC236}">
                <a16:creationId xmlns:a16="http://schemas.microsoft.com/office/drawing/2014/main" id="{86D2F8BD-232E-1A8B-F4FA-21F5AF6CC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21" r="27121"/>
          <a:stretch/>
        </p:blipFill>
        <p:spPr>
          <a:xfrm>
            <a:off x="7345680" y="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135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19D802-DD4D-9D59-A880-4DE05FD0E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1A1C7F7-ADA0-7630-1C0C-C5B55449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61CA1A-EF5A-80FB-D01C-7CFAA5467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nl-NL" dirty="0"/>
              <a:t>Research Question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D6AB661-6EFA-B548-CE59-4EC3B2C99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C756C01-6709-4F90-1F4F-EE568ABB0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r>
              <a:rPr lang="en-US" dirty="0"/>
              <a:t>How do loops, sequential streams, and parallel streams compare in performance, memory usage, and readability?</a:t>
            </a:r>
            <a:endParaRPr lang="nl-NL" dirty="0"/>
          </a:p>
        </p:txBody>
      </p:sp>
      <p:pic>
        <p:nvPicPr>
          <p:cNvPr id="4" name="Picture 4" descr="101010 gegevens lijnen naar oneindig">
            <a:extLst>
              <a:ext uri="{FF2B5EF4-FFF2-40B4-BE49-F238E27FC236}">
                <a16:creationId xmlns:a16="http://schemas.microsoft.com/office/drawing/2014/main" id="{084EB86E-EFF3-5EEB-4F3E-6603B106ED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21" r="27121"/>
          <a:stretch/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905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680D53-89C7-86AC-573F-A51DD449B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7ED3F62-A924-B89F-8F92-EB1516643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0CCBF18-896A-4ECF-9D62-46D26D0DD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nl-NL" dirty="0" err="1"/>
              <a:t>Subquestions</a:t>
            </a:r>
            <a:endParaRPr lang="nl-NL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3B71A2-B040-B119-B69C-B5E08A9BB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09F40F9-221D-B97C-7470-30EF5AE23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r>
              <a:rPr lang="en-US" dirty="0"/>
              <a:t>How do streams work?</a:t>
            </a:r>
          </a:p>
          <a:p>
            <a:r>
              <a:rPr lang="en-US" dirty="0"/>
              <a:t>How to use streams?</a:t>
            </a:r>
          </a:p>
          <a:p>
            <a:r>
              <a:rPr lang="en-US" dirty="0"/>
              <a:t>How do streams and loops differ in code readability</a:t>
            </a:r>
          </a:p>
          <a:p>
            <a:r>
              <a:rPr lang="en-US" dirty="0"/>
              <a:t>How do streams perform compared to loops</a:t>
            </a:r>
          </a:p>
          <a:p>
            <a:r>
              <a:rPr lang="en-US" dirty="0"/>
              <a:t>When to use (or avoid) streams</a:t>
            </a:r>
          </a:p>
          <a:p>
            <a:endParaRPr lang="en-US" dirty="0"/>
          </a:p>
        </p:txBody>
      </p:sp>
      <p:pic>
        <p:nvPicPr>
          <p:cNvPr id="4" name="Picture 4" descr="101010 gegevens lijnen naar oneindig">
            <a:extLst>
              <a:ext uri="{FF2B5EF4-FFF2-40B4-BE49-F238E27FC236}">
                <a16:creationId xmlns:a16="http://schemas.microsoft.com/office/drawing/2014/main" id="{9E06EC2F-4C30-0CFF-FE90-CC33150AD4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21" r="27121"/>
          <a:stretch/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789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A659B6-611C-D657-B749-7ACF87847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12A0FE-0396-3195-4967-844D1A3EB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2483A26-582D-A44C-6415-A6191D9C5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en-US" dirty="0"/>
              <a:t>How do streams work?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787ECD6-AF22-08BE-94A8-55E70605C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BA2C6DF-26A3-A24C-0E20-45B75F9B2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r>
              <a:rPr lang="en-US" dirty="0"/>
              <a:t>Pipeline: source -&gt; Intermediate -&gt; Terminal</a:t>
            </a:r>
          </a:p>
          <a:p>
            <a:r>
              <a:rPr lang="en-US" dirty="0"/>
              <a:t>Lazy evaluation</a:t>
            </a:r>
          </a:p>
          <a:p>
            <a:r>
              <a:rPr lang="en-US" dirty="0"/>
              <a:t>Intermediate operations </a:t>
            </a:r>
          </a:p>
          <a:p>
            <a:r>
              <a:rPr lang="en-US" dirty="0"/>
              <a:t>Terminal operations</a:t>
            </a:r>
          </a:p>
          <a:p>
            <a:r>
              <a:rPr lang="en-US" dirty="0"/>
              <a:t>Pipeline</a:t>
            </a:r>
          </a:p>
          <a:p>
            <a:r>
              <a:rPr lang="en-US" dirty="0"/>
              <a:t>Parallel</a:t>
            </a:r>
          </a:p>
          <a:p>
            <a:endParaRPr lang="en-US" dirty="0"/>
          </a:p>
        </p:txBody>
      </p:sp>
      <p:pic>
        <p:nvPicPr>
          <p:cNvPr id="4" name="Picture 4" descr="101010 gegevens lijnen naar oneindig">
            <a:extLst>
              <a:ext uri="{FF2B5EF4-FFF2-40B4-BE49-F238E27FC236}">
                <a16:creationId xmlns:a16="http://schemas.microsoft.com/office/drawing/2014/main" id="{EF9D99A7-9FE3-5C7E-F2E0-AC109704BF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21" r="27121"/>
          <a:stretch/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355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3FD96D-69F2-4413-36F1-C17104590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005C7A-D6D2-060D-272A-B35DD8094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57B3DF6-974E-FA91-24F7-8A4E8F9A0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en-US" dirty="0"/>
              <a:t>How to use streams?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CD65998-DF79-EAE7-9CBE-7FF68BFE6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D81D363-D9D2-C2D7-DE5D-321454304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r>
              <a:rPr lang="en-US" dirty="0"/>
              <a:t>Start with collection -&gt; call .Stream()</a:t>
            </a:r>
          </a:p>
          <a:p>
            <a:r>
              <a:rPr lang="en-US" dirty="0"/>
              <a:t>Add intermediate operations</a:t>
            </a:r>
          </a:p>
          <a:p>
            <a:r>
              <a:rPr lang="en-US" dirty="0"/>
              <a:t>Add terminal operation</a:t>
            </a:r>
          </a:p>
        </p:txBody>
      </p:sp>
      <p:pic>
        <p:nvPicPr>
          <p:cNvPr id="4" name="Picture 4" descr="101010 gegevens lijnen naar oneindig">
            <a:extLst>
              <a:ext uri="{FF2B5EF4-FFF2-40B4-BE49-F238E27FC236}">
                <a16:creationId xmlns:a16="http://schemas.microsoft.com/office/drawing/2014/main" id="{799BAF5E-9DFB-0863-02FC-7FDB552884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21" r="27121"/>
          <a:stretch/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480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7A3CAD-7B5D-0CAF-1D6C-DD747656E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5B9C1FB-97B8-7405-CF5A-EE04B9AEF5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521565C-2859-2C74-E879-3116B7343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When to use streams</a:t>
            </a:r>
            <a:br>
              <a:rPr lang="en-US" dirty="0"/>
            </a:br>
            <a:endParaRPr lang="nl-NL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BE2881-3276-68E9-C3FD-A6EFA39CF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CEFC593-AF1E-4778-40FE-3986EA3E4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r>
              <a:rPr lang="en-US" dirty="0"/>
              <a:t>You want cleaner, more readable code</a:t>
            </a:r>
          </a:p>
          <a:p>
            <a:r>
              <a:rPr lang="en-US" dirty="0"/>
              <a:t>You need to chain operations (filter/map/sort)</a:t>
            </a:r>
          </a:p>
          <a:p>
            <a:r>
              <a:rPr lang="en-US" dirty="0"/>
              <a:t>You want more declarative code</a:t>
            </a:r>
          </a:p>
          <a:p>
            <a:r>
              <a:rPr lang="en-US" dirty="0"/>
              <a:t>You want easier parallel processing</a:t>
            </a:r>
          </a:p>
          <a:p>
            <a:r>
              <a:rPr lang="en-US" dirty="0"/>
              <a:t>You want to avoid multiple loops</a:t>
            </a:r>
          </a:p>
        </p:txBody>
      </p:sp>
      <p:pic>
        <p:nvPicPr>
          <p:cNvPr id="4" name="Picture 4" descr="101010 gegevens lijnen naar oneindig">
            <a:extLst>
              <a:ext uri="{FF2B5EF4-FFF2-40B4-BE49-F238E27FC236}">
                <a16:creationId xmlns:a16="http://schemas.microsoft.com/office/drawing/2014/main" id="{B32542CC-AEB3-0591-410F-1D767D2CD4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21" r="27121"/>
          <a:stretch/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67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812721-DFDE-3E84-CCA1-48604DE5C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7B9C9F2-6B07-FC9D-05E4-5C88E5810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9E423A1-E0F9-77DB-7683-D99DD0DE8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When to avoid streams</a:t>
            </a:r>
            <a:br>
              <a:rPr lang="en-US" dirty="0"/>
            </a:br>
            <a:endParaRPr lang="nl-NL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3E2259D-0A3D-C4E3-2184-0AD12E896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8BF85D8-CA2A-6513-E5E7-D4571BDD5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r>
              <a:rPr lang="en-US" dirty="0"/>
              <a:t>The dataset is small</a:t>
            </a:r>
          </a:p>
          <a:p>
            <a:r>
              <a:rPr lang="en-US" dirty="0"/>
              <a:t>You need index-based logic</a:t>
            </a:r>
          </a:p>
          <a:p>
            <a:r>
              <a:rPr lang="en-US" dirty="0"/>
              <a:t>Parallelism is unsafe</a:t>
            </a:r>
          </a:p>
          <a:p>
            <a:r>
              <a:rPr lang="en-US" dirty="0"/>
              <a:t>Readability becomes worse due to complex lambdas</a:t>
            </a:r>
          </a:p>
        </p:txBody>
      </p:sp>
      <p:pic>
        <p:nvPicPr>
          <p:cNvPr id="4" name="Picture 4" descr="101010 gegevens lijnen naar oneindig">
            <a:extLst>
              <a:ext uri="{FF2B5EF4-FFF2-40B4-BE49-F238E27FC236}">
                <a16:creationId xmlns:a16="http://schemas.microsoft.com/office/drawing/2014/main" id="{4B4A9D81-99E0-B6D0-A5BA-BCFEB31E80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21" r="27121"/>
          <a:stretch/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59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47E6BF-84BA-D784-2542-CCE5D6930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454A6D-8F5D-58BE-18AC-AAE749B1C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958A612-D5C3-067B-79A8-CDABD4463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How do streams and loops differ in code readability</a:t>
            </a:r>
            <a:br>
              <a:rPr lang="en-US" dirty="0"/>
            </a:br>
            <a:endParaRPr lang="nl-NL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197FC09-C606-5A9C-EE6F-B42CB51CF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B6BF490-400E-4D89-D0AA-76C01EEB2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r>
              <a:rPr lang="en-US" dirty="0"/>
              <a:t>Loops: verbose</a:t>
            </a:r>
          </a:p>
          <a:p>
            <a:pPr lvl="1"/>
            <a:r>
              <a:rPr lang="en-US" dirty="0"/>
              <a:t>Tell Java </a:t>
            </a:r>
            <a:r>
              <a:rPr lang="en-US" i="1" dirty="0"/>
              <a:t>how</a:t>
            </a:r>
            <a:r>
              <a:rPr lang="en-US" dirty="0"/>
              <a:t> to do the work step-by-step</a:t>
            </a:r>
          </a:p>
          <a:p>
            <a:r>
              <a:rPr lang="en-US" dirty="0"/>
              <a:t>Streams: Declarative</a:t>
            </a:r>
          </a:p>
          <a:p>
            <a:pPr lvl="1"/>
            <a:r>
              <a:rPr lang="en-US" dirty="0"/>
              <a:t>Describe </a:t>
            </a:r>
            <a:r>
              <a:rPr lang="en-US" i="1" dirty="0"/>
              <a:t>what</a:t>
            </a:r>
            <a:r>
              <a:rPr lang="en-US" dirty="0"/>
              <a:t> you want done, Java handles the mechanics</a:t>
            </a:r>
          </a:p>
        </p:txBody>
      </p:sp>
      <p:pic>
        <p:nvPicPr>
          <p:cNvPr id="4" name="Picture 4" descr="101010 gegevens lijnen naar oneindig">
            <a:extLst>
              <a:ext uri="{FF2B5EF4-FFF2-40B4-BE49-F238E27FC236}">
                <a16:creationId xmlns:a16="http://schemas.microsoft.com/office/drawing/2014/main" id="{AA98FA74-3138-4B33-5B86-F3722DEA34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21" r="27121"/>
          <a:stretch/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862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4DC059-1D5B-8D88-2463-E191BB301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B6B91C0-25CF-273A-188C-D133A6D5E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AFCA7A5-17B6-00FF-D62A-BF3F972A9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How do streams perform (compared to loops)</a:t>
            </a:r>
            <a:br>
              <a:rPr lang="en-US" dirty="0"/>
            </a:br>
            <a:endParaRPr lang="nl-NL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228529-E761-756F-BA24-27E39D590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D6AF3A3-F531-6EF1-21B2-9FF1B4D35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4" descr="101010 gegevens lijnen naar oneindig">
            <a:extLst>
              <a:ext uri="{FF2B5EF4-FFF2-40B4-BE49-F238E27FC236}">
                <a16:creationId xmlns:a16="http://schemas.microsoft.com/office/drawing/2014/main" id="{B91DE195-F3A5-D472-DFD0-949E0E2299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21" r="27121"/>
          <a:stretch/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49462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518</TotalTime>
  <Words>267</Words>
  <Application>Microsoft Office PowerPoint</Application>
  <PresentationFormat>Breedbeeld</PresentationFormat>
  <Paragraphs>44</Paragraphs>
  <Slides>11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11</vt:i4>
      </vt:variant>
    </vt:vector>
  </HeadingPairs>
  <TitlesOfParts>
    <vt:vector size="14" baseType="lpstr">
      <vt:lpstr>Arial</vt:lpstr>
      <vt:lpstr>Grandview Display</vt:lpstr>
      <vt:lpstr>DashVTI</vt:lpstr>
      <vt:lpstr>Understanding the Java Stream&lt;T&gt; Interface and Its Usage in the Java Collection Framework</vt:lpstr>
      <vt:lpstr>Introduction</vt:lpstr>
      <vt:lpstr>Problem Statement</vt:lpstr>
      <vt:lpstr>Research Question</vt:lpstr>
      <vt:lpstr>Subquestions</vt:lpstr>
      <vt:lpstr>How do streams work?</vt:lpstr>
      <vt:lpstr>How to use streams?</vt:lpstr>
      <vt:lpstr>When to use streams </vt:lpstr>
      <vt:lpstr>When to avoid streams </vt:lpstr>
      <vt:lpstr>How do streams and loops differ in code readability </vt:lpstr>
      <vt:lpstr>How do streams perform (compared to loops)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Boudri</dc:creator>
  <cp:lastModifiedBy>Stefan Boudri</cp:lastModifiedBy>
  <cp:revision>7</cp:revision>
  <dcterms:created xsi:type="dcterms:W3CDTF">2025-11-16T13:48:03Z</dcterms:created>
  <dcterms:modified xsi:type="dcterms:W3CDTF">2025-11-16T22:26:12Z</dcterms:modified>
</cp:coreProperties>
</file>